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mbria"/>
        <a:ea typeface="Cambria"/>
        <a:cs typeface="Cambria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mbria"/>
        <a:ea typeface="Cambria"/>
        <a:cs typeface="Cambria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mbria"/>
        <a:ea typeface="Cambria"/>
        <a:cs typeface="Cambria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mbria"/>
        <a:ea typeface="Cambria"/>
        <a:cs typeface="Cambria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mbria"/>
        <a:ea typeface="Cambria"/>
        <a:cs typeface="Cambria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Cambria"/>
        <a:ea typeface="Cambria"/>
        <a:cs typeface="Cambria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Cambria"/>
        <a:ea typeface="Cambria"/>
        <a:cs typeface="Cambria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Cambria"/>
        <a:ea typeface="Cambria"/>
        <a:cs typeface="Cambria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Cambria"/>
        <a:ea typeface="Cambria"/>
        <a:cs typeface="Cambria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mbria"/>
          <a:ea typeface="Cambria"/>
          <a:cs typeface="Cambri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mbria"/>
          <a:ea typeface="Cambria"/>
          <a:cs typeface="Cambria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mbria"/>
          <a:ea typeface="Cambria"/>
          <a:cs typeface="Cambria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mbria"/>
          <a:ea typeface="Cambria"/>
          <a:cs typeface="Cambria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mbria"/>
          <a:ea typeface="Cambria"/>
          <a:cs typeface="Cambria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mbria"/>
          <a:ea typeface="Cambria"/>
          <a:cs typeface="Cambria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mbria"/>
          <a:ea typeface="Cambria"/>
          <a:cs typeface="Cambria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mbria"/>
          <a:ea typeface="Cambria"/>
          <a:cs typeface="Cambria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mbria"/>
          <a:ea typeface="Cambria"/>
          <a:cs typeface="Cambria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mbria"/>
          <a:ea typeface="Cambria"/>
          <a:cs typeface="Cambri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Cambria"/>
          <a:ea typeface="Cambria"/>
          <a:cs typeface="Cambri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9221D"/>
          </a:solidFill>
          <a:ln w="12700">
            <a:solidFill>
              <a:srgbClr val="1922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291840"/>
            <a:ext cx="4023360" cy="4023360"/>
          </a:xfrm>
          <a:prstGeom prst="ellipse">
            <a:avLst/>
          </a:prstGeom>
          <a:solidFill>
            <a:srgbClr val="19221D"/>
          </a:solidFill>
          <a:ln w="12700">
            <a:solidFill>
              <a:srgbClr val="1922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3291840"/>
            <a:ext cx="1645920" cy="1645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44684" y="3703320"/>
            <a:ext cx="576072" cy="822960"/>
          </a:xfrm>
          <a:prstGeom prst="line">
            <a:avLst/>
          </a:prstGeom>
          <a:noFill/>
          <a:ln w="102870">
            <a:solidFill>
              <a:srgbClr val="0D16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21240" y="3604565"/>
            <a:ext cx="164592" cy="164592"/>
          </a:xfrm>
          <a:prstGeom prst="ellipse">
            <a:avLst/>
          </a:prstGeom>
          <a:solidFill>
            <a:srgbClr val="0D1611"/>
          </a:solidFill>
          <a:ln w="12700">
            <a:solidFill>
              <a:srgbClr val="0D16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HIKING GEAR  •  INNOVATION PITCH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45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Smart Hiking Stick That Watches Your Back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37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self-powered  •  off-grid connected  •  wildlife-aware  •  health-tracking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5394960" cy="411480"/>
          </a:xfrm>
          <a:prstGeom prst="roundRect">
            <a:avLst>
              <a:gd name="adj" fmla="val 44444"/>
            </a:avLst>
          </a:prstGeom>
          <a:solidFill>
            <a:srgbClr val="0D161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4050792"/>
            <a:ext cx="502920" cy="265176"/>
          </a:xfrm>
          <a:prstGeom prst="roundRect">
            <a:avLst>
              <a:gd name="adj" fmla="val 2069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050792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977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AI: fall detection • wildlife classification • storm alerts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6692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foldable pole. Nine integrated safety systems. Built for the moments a hiker is completely alone.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Hikers go off-grid — and become completely unprotected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30168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11680"/>
            <a:ext cx="384048" cy="384048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60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network, nowhere to call for help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154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Cellular networks don't reach deep wilderness — a fall or injury can mean hours with no way to signal for rescue.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9392" y="1783080"/>
            <a:ext cx="3630168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2011680"/>
            <a:ext cx="384048" cy="384048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5371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2560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Wildlife encounters happen without warning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3154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Hikers only find out an animal is close once it's already too close — most gear reacts after contact, not before.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01584" y="1783080"/>
            <a:ext cx="3630168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5904" y="2011680"/>
            <a:ext cx="384048" cy="384048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7590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2560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Gear runs out of charge exactly when needed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75904" y="3154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units, torches, and trackers all rely on batteries that die mid-trek, with no way to recharge in the wild.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11274552" cy="1965960"/>
          </a:xfrm>
          <a:prstGeom prst="roundRect">
            <a:avLst>
              <a:gd name="adj" fmla="val 3256"/>
            </a:avLst>
          </a:prstGeom>
          <a:solidFill>
            <a:srgbClr val="19221D"/>
          </a:solidFill>
          <a:ln w="12700">
            <a:solidFill>
              <a:srgbClr val="19221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HIKERS COPE TODAY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800600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E6E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 bear spray or a whistle — single-purpose, reactive, not preventive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E6E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an expensive standalone satellite messenger (₹30,000+) just for SOS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E6E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Drink from streams on guesswork, risking illness from untested water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E6E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 multiple separate gadgets — torch, GPS, fitness band — adding weight and more batteries to manage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 •  The Smart Hiking Stick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pole. Nine built-in safety and utility systems.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30168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148840"/>
            <a:ext cx="585216" cy="585216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3427" y="2295144"/>
            <a:ext cx="204826" cy="292608"/>
          </a:xfrm>
          <a:prstGeom prst="line">
            <a:avLst/>
          </a:prstGeom>
          <a:noFill/>
          <a:ln w="38100">
            <a:solidFill>
              <a:srgbClr val="C447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2260031"/>
            <a:ext cx="58522" cy="5852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0876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 Deterrent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496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Acoustic + electric defense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79392" y="1783080"/>
            <a:ext cx="3630168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35424" y="2148840"/>
            <a:ext cx="585216" cy="585216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25619" y="2295144"/>
            <a:ext cx="204826" cy="292608"/>
          </a:xfrm>
          <a:prstGeom prst="line">
            <a:avLst/>
          </a:prstGeom>
          <a:noFill/>
          <a:ln w="38100">
            <a:solidFill>
              <a:srgbClr val="C447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81728" y="2260031"/>
            <a:ext cx="58522" cy="5852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30952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Off-Grid SOS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30952" y="2496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+ GPS, no cellular needed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01584" y="1783080"/>
            <a:ext cx="3630168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7616" y="2148840"/>
            <a:ext cx="585216" cy="585216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7811" y="2295144"/>
            <a:ext cx="204826" cy="292608"/>
          </a:xfrm>
          <a:prstGeom prst="line">
            <a:avLst/>
          </a:prstGeom>
          <a:noFill/>
          <a:ln w="38100">
            <a:solidFill>
              <a:srgbClr val="C447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0" y="2260031"/>
            <a:ext cx="58522" cy="5852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53144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Biometrics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53144" y="2496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rate, SpO2, cuffless BP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3630168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3657600"/>
            <a:ext cx="585216" cy="585216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3427" y="3803904"/>
            <a:ext cx="204826" cy="292608"/>
          </a:xfrm>
          <a:prstGeom prst="line">
            <a:avLst/>
          </a:prstGeom>
          <a:noFill/>
          <a:ln w="38100">
            <a:solidFill>
              <a:srgbClr val="C447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3768791"/>
            <a:ext cx="58522" cy="5852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50876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Kinetic Self-Charging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508760" y="4005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Powered by every footstep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79392" y="3291840"/>
            <a:ext cx="3630168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35424" y="3657600"/>
            <a:ext cx="585216" cy="585216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25619" y="3803904"/>
            <a:ext cx="204826" cy="292608"/>
          </a:xfrm>
          <a:prstGeom prst="line">
            <a:avLst/>
          </a:prstGeom>
          <a:noFill/>
          <a:ln w="38100">
            <a:solidFill>
              <a:srgbClr val="C447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1728" y="3768791"/>
            <a:ext cx="58522" cy="5852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30952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Early-Warning Sensor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330952" y="4005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Detects wildlife before contact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01584" y="3291840"/>
            <a:ext cx="3630168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57616" y="3657600"/>
            <a:ext cx="585216" cy="585216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47811" y="3803904"/>
            <a:ext cx="204826" cy="292608"/>
          </a:xfrm>
          <a:prstGeom prst="line">
            <a:avLst/>
          </a:prstGeom>
          <a:noFill/>
          <a:ln w="38100">
            <a:solidFill>
              <a:srgbClr val="C447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03920" y="3768791"/>
            <a:ext cx="58522" cy="5852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53144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Alert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9153144" y="4005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Predicts storms via pressure drop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800600"/>
            <a:ext cx="3630168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" y="5166360"/>
            <a:ext cx="585216" cy="585216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3427" y="5312664"/>
            <a:ext cx="204826" cy="292608"/>
          </a:xfrm>
          <a:prstGeom prst="line">
            <a:avLst/>
          </a:prstGeom>
          <a:noFill/>
          <a:ln w="38100">
            <a:solidFill>
              <a:srgbClr val="C447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9536" y="5277551"/>
            <a:ext cx="58522" cy="5852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508760" y="5120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Quality Tester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1508760" y="5513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stream safety readout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79392" y="4800600"/>
            <a:ext cx="3630168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35424" y="5166360"/>
            <a:ext cx="585216" cy="585216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25619" y="5312664"/>
            <a:ext cx="204826" cy="292608"/>
          </a:xfrm>
          <a:prstGeom prst="line">
            <a:avLst/>
          </a:prstGeom>
          <a:noFill/>
          <a:ln w="38100">
            <a:solidFill>
              <a:srgbClr val="C4471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81728" y="5277551"/>
            <a:ext cx="58522" cy="5852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30952" y="5120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Torch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5330952" y="5513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separate flashlight needed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101584" y="4800600"/>
            <a:ext cx="3630168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57616" y="5166360"/>
            <a:ext cx="585216" cy="585216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47811" y="5312664"/>
            <a:ext cx="204826" cy="292608"/>
          </a:xfrm>
          <a:prstGeom prst="line">
            <a:avLst/>
          </a:prstGeom>
          <a:noFill/>
          <a:ln w="38100">
            <a:solidFill>
              <a:srgbClr val="C4471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03920" y="5277551"/>
            <a:ext cx="58522" cy="5852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153144" y="5120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Foldable &amp; Lightweight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9153144" y="5513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Packs down, easy to carry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 •  The Smart Hiking Stick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TECHNOLOGY — DEFENSE &amp; EARLY WARNING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Sensing danger before it becomes an encounter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25980"/>
            <a:ext cx="731520" cy="731520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2308860"/>
            <a:ext cx="256032" cy="365760"/>
          </a:xfrm>
          <a:prstGeom prst="line">
            <a:avLst/>
          </a:prstGeom>
          <a:noFill/>
          <a:ln w="45720">
            <a:solidFill>
              <a:srgbClr val="C447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264969"/>
            <a:ext cx="73152" cy="7315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11680" y="19659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Dual-Mode Acoustic Deterrent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35000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18–25 kHz ultrasonic sweep + 85+ dB alarm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67919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piezoelectric siren switches between an ultrasonic frequency sweep that agitates canines and cats, and a loud audible alarm for larger wildlife — a non-lethal first line of defense.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112745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07892"/>
            <a:ext cx="731520" cy="731520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3890772"/>
            <a:ext cx="256032" cy="365760"/>
          </a:xfrm>
          <a:prstGeom prst="line">
            <a:avLst/>
          </a:prstGeom>
          <a:noFill/>
          <a:ln w="45720">
            <a:solidFill>
              <a:srgbClr val="C447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846881"/>
            <a:ext cx="73152" cy="7315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11680" y="35478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 Defense Tip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39319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Low-current, high-voltage pulse — livestock-fence style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4261104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stun-style pulse circuit integrated at the base tip, gated by a grip-mounted safety switch — so it never discharges accidentally into wet ground or a hiker's boot.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946904"/>
            <a:ext cx="112745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289804"/>
            <a:ext cx="731520" cy="731520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" y="5472684"/>
            <a:ext cx="256032" cy="365760"/>
          </a:xfrm>
          <a:prstGeom prst="line">
            <a:avLst/>
          </a:prstGeom>
          <a:noFill/>
          <a:ln w="45720">
            <a:solidFill>
              <a:srgbClr val="C447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5428793"/>
            <a:ext cx="73152" cy="7315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11680" y="512978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 / PIR Early-Warning Sensor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551383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Detects warm bodies 5–10 m away, low-light capable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011680" y="584301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PIR motion sensor or micro-thermal array near the top detects an approaching animal before it's close — the handle vibrates to alert the hiker pre-emptively, not reactively.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 •  The Smart Hiking Stick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TECHNOLOGY — CONNECTIVITY &amp; HEALTH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Reaching help and tracking vitals with zero cellular signal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25980"/>
            <a:ext cx="731520" cy="731520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2308860"/>
            <a:ext cx="256032" cy="365760"/>
          </a:xfrm>
          <a:prstGeom prst="line">
            <a:avLst/>
          </a:prstGeom>
          <a:noFill/>
          <a:ln w="45720">
            <a:solidFill>
              <a:srgbClr val="C447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264969"/>
            <a:ext cx="73152" cy="7315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11680" y="19659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Off-Grid SOS via LoRa + GPS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35000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868/915 MHz, up to 10–15 km range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67919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Sends compressed digital telemetry — exact GPS coordinates, altitude, battery level, and time — across wilderness distances no phone signal can reach.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112745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07892"/>
            <a:ext cx="731520" cy="731520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3890772"/>
            <a:ext cx="256032" cy="365760"/>
          </a:xfrm>
          <a:prstGeom prst="line">
            <a:avLst/>
          </a:prstGeom>
          <a:noFill/>
          <a:ln w="45720">
            <a:solidFill>
              <a:srgbClr val="C447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846881"/>
            <a:ext cx="73152" cy="7315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11680" y="35478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Rate &amp; SpO2 Monitoring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39319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MAX30102 optical sensor, grip or wrist strap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4261104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Continuously tracks pulse and blood-oxygen saturation during the trek, embedded directly into the handle or an accompanying wrist strap.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946904"/>
            <a:ext cx="112745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289804"/>
            <a:ext cx="731520" cy="731520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" y="5472684"/>
            <a:ext cx="256032" cy="365760"/>
          </a:xfrm>
          <a:prstGeom prst="line">
            <a:avLst/>
          </a:prstGeom>
          <a:noFill/>
          <a:ln w="45720">
            <a:solidFill>
              <a:srgbClr val="C447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5428793"/>
            <a:ext cx="73152" cy="7315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11680" y="512978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Cuffless Blood Pressure Estimation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551383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PPG + Pulse Transit Time (grip ↔ wrist strap)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011680" y="584301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Combines optical sensors at two points on the body to estimate blood pressure trends — no inflatable cuff required, a genuine biosensing innovation for wearables.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 •  The Smart Hiking Stick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TECHNOLOGY — POWER, ENVIRONMENT &amp; UTILITY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runs dry, never leaves you unprepared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25980"/>
            <a:ext cx="731520" cy="731520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2308860"/>
            <a:ext cx="256032" cy="365760"/>
          </a:xfrm>
          <a:prstGeom prst="line">
            <a:avLst/>
          </a:prstGeom>
          <a:noFill/>
          <a:ln w="45720">
            <a:solidFill>
              <a:srgbClr val="C447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264969"/>
            <a:ext cx="73152" cy="7315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11680" y="19659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Kinetic Self-Charging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35000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Piezoelectric / magnetic induction, charges on every step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67919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pole strike compresses a piezo disc array or spring-loaded induction slider — generating pulses that charge an 18650 Li-ion cell through a bridge rectifier. No wall charger needed mid-trek.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112745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07892"/>
            <a:ext cx="731520" cy="731520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3890772"/>
            <a:ext cx="256032" cy="365760"/>
          </a:xfrm>
          <a:prstGeom prst="line">
            <a:avLst/>
          </a:prstGeom>
          <a:noFill/>
          <a:ln w="45720">
            <a:solidFill>
              <a:srgbClr val="C447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846881"/>
            <a:ext cx="73152" cy="7315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11680" y="35478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Atmospheric Weather Early-Warning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39319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BMP280 barometric pressure sensor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4261104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rapid pressure drop over 30 minutes signals an incoming storm — flagged instantly on the pole's built-in OLED screen, well before the sky changes.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946904"/>
            <a:ext cx="112745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289804"/>
            <a:ext cx="731520" cy="731520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" y="5472684"/>
            <a:ext cx="256032" cy="365760"/>
          </a:xfrm>
          <a:prstGeom prst="line">
            <a:avLst/>
          </a:prstGeom>
          <a:noFill/>
          <a:ln w="45720">
            <a:solidFill>
              <a:srgbClr val="C447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5428793"/>
            <a:ext cx="73152" cy="73152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11680" y="512978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Tester + Torch + Foldable Build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551383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Retractable TDS/turbidity probe · integrated light · packable shaft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011680" y="584301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Dip the tip into a stream for an instant water-safety readout before drinking. A built-in torch removes the need for a separate flashlight — and the whole pole folds down light and compact.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 •  The Smart Hiking Stick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AI — ON-DEVICE INTELLIGENCE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that works with zero signal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56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IMU · thermal/PIR · barometer · PPG · GPS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78308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19221D"/>
          </a:solidFill>
          <a:ln w="9525">
            <a:solidFill>
              <a:srgbClr val="19221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856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TinyML model on the pole's own chip — no cloud, no cellular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95360" y="1783080"/>
            <a:ext cx="31363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23960" y="1856232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823960" y="214884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Haptic alert · siren / ultrasonic · OLED · LoRa SOS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41648" y="2057400"/>
            <a:ext cx="411480" cy="320040"/>
          </a:xfrm>
          <a:prstGeom prst="rightArrow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0728" y="2057400"/>
            <a:ext cx="411480" cy="320040"/>
          </a:xfrm>
          <a:prstGeom prst="rightArrow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80360"/>
            <a:ext cx="55321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081528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detection + auto-SOS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337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IMU + TinyML · works with no phone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657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Tells a stumble or a dropped pole from a real fall. If the hiker doesn't respond to a handle buzz within about 30 seconds, an SOS goes out automatically over LoRa — even if they are unconscious.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9632" y="2880360"/>
            <a:ext cx="55321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28232" y="3081528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28232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76872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 classification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76872" y="3337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 array + TinyML · Sentinel Pro variant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976872" y="3657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Classifies an approaching warm body as human, small animal or large animal, ignores wind and branches, and picks the response: ultrasonic sweep, loud alarm, or no alert. The base model keeps the PIR sensor.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99432"/>
            <a:ext cx="55321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800600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4782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Altitude-aware storm alert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50566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+ GPS altitude + temperature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234440" y="537667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fixed pressure-drop rule false-alarms on every climb, because gaining height also lowers pressure. The model separates a real weather change from the hiker's own ascent.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99632" y="4599432"/>
            <a:ext cx="55321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28232" y="4800600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28232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976872" y="4782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Vitals &amp; fatigue intelligence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976872" y="50566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IMU + PPG + SpO2 + pace + altitude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976872" y="537667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Removes arm-swing noise from the grip heart-rate signal, calibrates BP trends per user, and warns the hiker to slow down and rest. Shown as wellness trends, not a medical diagnosis.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 •  The Smart Hiking Stick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AI — HARDWARE &amp; ROLLOUT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hardware upgrade, rolled out in phases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6309360" cy="3291840"/>
          </a:xfrm>
          <a:prstGeom prst="roundRect">
            <a:avLst>
              <a:gd name="adj" fmla="val 1944"/>
            </a:avLst>
          </a:prstGeom>
          <a:solidFill>
            <a:srgbClr val="19221D"/>
          </a:solidFill>
          <a:ln w="9525">
            <a:solidFill>
              <a:srgbClr val="2236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ADDED FOR AI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IMU (e.g. MPU6050)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97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Falls, gait, PPG noise removal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~₹150–300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072384"/>
            <a:ext cx="5715000" cy="0"/>
          </a:xfrm>
          <a:prstGeom prst="line">
            <a:avLst/>
          </a:prstGeom>
          <a:noFill/>
          <a:ln w="9525">
            <a:solidFill>
              <a:srgbClr val="223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154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Stronger MCU (ESP32-S3 or nRF52840)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474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the TinyML models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~₹300–800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3849624"/>
            <a:ext cx="5715000" cy="0"/>
          </a:xfrm>
          <a:prstGeom prst="line">
            <a:avLst/>
          </a:prstGeom>
          <a:noFill/>
          <a:ln w="9525">
            <a:solidFill>
              <a:srgbClr val="2236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931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 array (AMG8833-class)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51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 classification — Sentinel Pro only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Several thousand ₹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720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FA0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can be built with Edge Impulse or TensorFlow Lite Micro. Costs are estimates — confirm with supplier quotes.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95160" y="1783080"/>
            <a:ext cx="4736592" cy="1005840"/>
          </a:xfrm>
          <a:prstGeom prst="roundRect">
            <a:avLst>
              <a:gd name="adj" fmla="val 6364"/>
            </a:avLst>
          </a:prstGeom>
          <a:solidFill>
            <a:srgbClr val="19221D"/>
          </a:solidFill>
          <a:ln w="9525">
            <a:solidFill>
              <a:srgbClr val="2236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9480" y="18745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2103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Cheap, high impact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detection with auto-SOS, altitude-aware storm alerts, PPG noise removal.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95160" y="2926080"/>
            <a:ext cx="4736592" cy="1005840"/>
          </a:xfrm>
          <a:prstGeom prst="roundRect">
            <a:avLst>
              <a:gd name="adj" fmla="val 6364"/>
            </a:avLst>
          </a:prstGeom>
          <a:solidFill>
            <a:srgbClr val="19221D"/>
          </a:solidFill>
          <a:ln w="9525">
            <a:solidFill>
              <a:srgbClr val="2236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9480" y="30175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3246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Wildlife intelligence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3538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 classification on the Sentinel Pro variant with thermal array.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95160" y="4069080"/>
            <a:ext cx="4736592" cy="1005840"/>
          </a:xfrm>
          <a:prstGeom prst="roundRect">
            <a:avLst>
              <a:gd name="adj" fmla="val 6364"/>
            </a:avLst>
          </a:prstGeom>
          <a:solidFill>
            <a:srgbClr val="19221D"/>
          </a:solidFill>
          <a:ln w="9525">
            <a:solidFill>
              <a:srgbClr val="2236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69480" y="41605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4389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app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269480" y="4681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Companion-app analytics and forest-department wildlife dashboards.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5349240"/>
            <a:ext cx="11274552" cy="731520"/>
          </a:xfrm>
          <a:prstGeom prst="roundRect">
            <a:avLst>
              <a:gd name="adj" fmla="val 8750"/>
            </a:avLst>
          </a:prstGeom>
          <a:solidFill>
            <a:srgbClr val="19221D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5349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LIMITS: </a:t>
            </a:r>
            <a:pPr indent="0" marL="0">
              <a:buNone/>
            </a:pPr>
            <a:r>
              <a:rPr lang="en-US" sz="1200" dirty="0">
                <a:solidFill>
                  <a:srgbClr val="E6E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TDS/turbidity sensing cannot detect bacteria — AI can only flag water as “likely clear” or “risky”. Cuffless BP is a wellness trend, not a clinical measurement or diagnosis.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 •  The Smart Hiking Stick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CUSTOMERS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Sentinel is built for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6949440" cy="4389120"/>
          </a:xfrm>
          <a:prstGeom prst="roundRect">
            <a:avLst>
              <a:gd name="adj" fmla="val 1458"/>
            </a:avLst>
          </a:prstGeom>
          <a:solidFill>
            <a:srgbClr val="19221D"/>
          </a:solidFill>
          <a:ln w="12700">
            <a:solidFill>
              <a:srgbClr val="19221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&amp; group trekkers, hikers, mountaineers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346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3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trekkers on Himalayan and Western Ghats trails who face real wildlife, weather, and connectivity risk.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290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3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Adventure tourism operators &amp; trekking agencies needing safety-certified gear for groups.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114800"/>
            <a:ext cx="6217920" cy="0"/>
          </a:xfrm>
          <a:prstGeom prst="line">
            <a:avLst/>
          </a:prstGeom>
          <a:noFill/>
          <a:ln w="9525">
            <a:solidFill>
              <a:srgbClr val="223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61772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6E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 department rangers &amp; wildlife patrol staff on remote beats.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6E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response &amp; mountain rescue teams needing off-grid location tracking.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6E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Elderly or solo, safety-conscious trekkers.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635240" y="1783080"/>
            <a:ext cx="4096512" cy="438912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2057400"/>
            <a:ext cx="640080" cy="640080"/>
          </a:xfrm>
          <a:prstGeom prst="ellipse">
            <a:avLst/>
          </a:prstGeom>
          <a:solidFill>
            <a:srgbClr val="FDE3D8"/>
          </a:solidFill>
          <a:ln w="12700">
            <a:solidFill>
              <a:srgbClr val="FDE3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7586" y="2217420"/>
            <a:ext cx="224028" cy="320040"/>
          </a:xfrm>
          <a:prstGeom prst="line">
            <a:avLst/>
          </a:prstGeom>
          <a:noFill/>
          <a:ln w="40005">
            <a:solidFill>
              <a:srgbClr val="C447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9580" y="2179015"/>
            <a:ext cx="64008" cy="64008"/>
          </a:xfrm>
          <a:prstGeom prst="ellipse">
            <a:avLst/>
          </a:prstGeom>
          <a:solidFill>
            <a:srgbClr val="C4471C"/>
          </a:solidFill>
          <a:ln w="12700">
            <a:solidFill>
              <a:srgbClr val="C447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0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partners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3200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Outdoor gear retailers &amp; expedition outfitters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4023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partners who put Sentinel in front of buyers already gearing up for a trek: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46634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Outdoor/trekking gear retail chains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trek organizers (Himalayan, Western Ghats circuits)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tourism &amp; forest departments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 •  The Smart Hiking Stick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USP &amp; PATENT-ELIGIBLE INNOVATIONS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defensible technical innovations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532120" cy="1143000"/>
          </a:xfrm>
          <a:prstGeom prst="roundRect">
            <a:avLst>
              <a:gd name="adj" fmla="val 5600"/>
            </a:avLst>
          </a:prstGeom>
          <a:solidFill>
            <a:srgbClr val="19221D"/>
          </a:solidFill>
          <a:ln w="9525">
            <a:solidFill>
              <a:srgbClr val="223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47672"/>
            <a:ext cx="310896" cy="31089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Kinetic self-charging shaft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2585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Footstep-driven piezo/induction charging tackles the #1 field problem — dead batteries. The general technique has shoe-insole prior art; applying it inside a trekking-pole shaft is the narrower, novel claim.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9632" y="1783080"/>
            <a:ext cx="5532120" cy="1143000"/>
          </a:xfrm>
          <a:prstGeom prst="roundRect">
            <a:avLst>
              <a:gd name="adj" fmla="val 5600"/>
            </a:avLst>
          </a:prstGeom>
          <a:solidFill>
            <a:srgbClr val="19221D"/>
          </a:solidFill>
          <a:ln w="9525">
            <a:solidFill>
              <a:srgbClr val="2236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82512" y="1947672"/>
            <a:ext cx="310896" cy="31089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39712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Cuffless BP via dual-point PPG+PTT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39712" y="22585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biosensing method claim: grip + wrist-strap sensors together estimate blood pressure trends with no inflatable cuff.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5532120" cy="1143000"/>
          </a:xfrm>
          <a:prstGeom prst="roundRect">
            <a:avLst>
              <a:gd name="adj" fmla="val 5600"/>
            </a:avLst>
          </a:prstGeom>
          <a:solidFill>
            <a:srgbClr val="19221D"/>
          </a:solidFill>
          <a:ln w="9525">
            <a:solidFill>
              <a:srgbClr val="2236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27832"/>
            <a:ext cx="310896" cy="31089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200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Dual-mode acoustic deterrent circuit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5387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Switchable ultrasonic sweep + audible alarm from one piezo siren — a distinct mechanism, not just ‘a loud speaker’.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99632" y="3063240"/>
            <a:ext cx="5532120" cy="1143000"/>
          </a:xfrm>
          <a:prstGeom prst="roundRect">
            <a:avLst>
              <a:gd name="adj" fmla="val 5600"/>
            </a:avLst>
          </a:prstGeom>
          <a:solidFill>
            <a:srgbClr val="19221D"/>
          </a:solidFill>
          <a:ln w="9525">
            <a:solidFill>
              <a:srgbClr val="2236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3227832"/>
            <a:ext cx="310896" cy="31089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82512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39712" y="3200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Pre-contact thermal/PIR alert system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39712" y="35387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Proactively vibrates the handle before an animal is close — early-warning, not just after-the-fact deterrence.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5532120" cy="1143000"/>
          </a:xfrm>
          <a:prstGeom prst="roundRect">
            <a:avLst>
              <a:gd name="adj" fmla="val 5600"/>
            </a:avLst>
          </a:prstGeom>
          <a:solidFill>
            <a:srgbClr val="19221D"/>
          </a:solidFill>
          <a:ln w="9525">
            <a:solidFill>
              <a:srgbClr val="2236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507992"/>
            <a:ext cx="310896" cy="31089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507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4480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Retractable water-quality probe in-pole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48188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folding trekking pole with an integrated TDS/turbidity sensor at the tip — a genuinely novel utility integration not seen in existing designs.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99632" y="4343400"/>
            <a:ext cx="5532120" cy="1143000"/>
          </a:xfrm>
          <a:prstGeom prst="roundRect">
            <a:avLst>
              <a:gd name="adj" fmla="val 5600"/>
            </a:avLst>
          </a:prstGeom>
          <a:solidFill>
            <a:srgbClr val="19221D"/>
          </a:solidFill>
          <a:ln w="9525">
            <a:solidFill>
              <a:srgbClr val="2236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82512" y="4507992"/>
            <a:ext cx="310896" cy="31089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82512" y="4507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839712" y="4480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sensor-fusion AI with auto-SOS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839712" y="48188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TinyML on the pole fuses IMU, thermal/PIR, pressure and vitals to detect falls, classify wildlife and trigger a LoRa SOS with no phone or network. Novelty to be confirmed in the prior-art search.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5669280"/>
            <a:ext cx="11274552" cy="640080"/>
          </a:xfrm>
          <a:prstGeom prst="roundRect">
            <a:avLst>
              <a:gd name="adj" fmla="val 10000"/>
            </a:avLst>
          </a:prstGeom>
          <a:solidFill>
            <a:srgbClr val="19221D"/>
          </a:solidFill>
          <a:ln w="9525">
            <a:solidFill>
              <a:srgbClr val="2236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5669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PRIOR-ART CHECK: </a:t>
            </a:r>
            <a:pPr indent="0" marL="0">
              <a:buNone/>
            </a:pPr>
            <a:r>
              <a:rPr lang="en-US" sz="900" dirty="0">
                <a:solidFill>
                  <a:srgbClr val="C9D3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+ heart-rate “smart trekking poles” already exist as reference designs (e.g. a cellular-based biosensing pole from Renesas/DigiKey) — but none combine animal deterrence, off-grid LoRa SOS, footstep self-charging, and water testing in one pole. That full combination is Sentinel's strongest claim. Not legal advice — a patent agent should run a complete prior-art search before filing, including the AI auto-SOS claim.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Adventure tourism is one of travel's fastest-growing segments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301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$10.2B → $24.7B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hiking gear market, 2025→2034 (10% CAGR)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9392" y="1783080"/>
            <a:ext cx="36301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₹19.7K Cr → ₹88.5K Cr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606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adventure tourism market, 2025→2034 (17.4% CAGR)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01584" y="1783080"/>
            <a:ext cx="36301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75904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9.6% CAGR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606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Asia-Pacific — the fastest-growing hiking tourism region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91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86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Sources: Verified Market Reports (global hiking market), IMARC Group (India adventure tourism). Figures vary by research firm and are industry estimates.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11274552" cy="2423160"/>
          </a:xfrm>
          <a:prstGeom prst="roundRect">
            <a:avLst>
              <a:gd name="adj" fmla="val 2642"/>
            </a:avLst>
          </a:prstGeom>
          <a:solidFill>
            <a:srgbClr val="19221D"/>
          </a:solidFill>
          <a:ln w="12700">
            <a:solidFill>
              <a:srgbClr val="19221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SIZING THE OPPORTUNITY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389120"/>
            <a:ext cx="10561320" cy="512064"/>
          </a:xfrm>
          <a:prstGeom prst="rect">
            <a:avLst/>
          </a:prstGeom>
          <a:solidFill>
            <a:srgbClr val="22362B"/>
          </a:solidFill>
          <a:ln w="12700">
            <a:solidFill>
              <a:srgbClr val="2236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438912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4389120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hiking &amp; outdoor safety-gear market — trekkers, expedition teams, patrol forces worldwide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4974336"/>
            <a:ext cx="10561320" cy="512064"/>
          </a:xfrm>
          <a:prstGeom prst="rect">
            <a:avLst/>
          </a:prstGeom>
          <a:solidFill>
            <a:srgbClr val="22362B"/>
          </a:solidFill>
          <a:ln w="12700">
            <a:solidFill>
              <a:srgbClr val="2236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" y="4974336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920240" y="4974336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adventure-tourism trekker base, plus forest department &amp; rescue-team procurement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5559552"/>
            <a:ext cx="10561320" cy="512064"/>
          </a:xfrm>
          <a:prstGeom prst="rect">
            <a:avLst/>
          </a:prstGeom>
          <a:solidFill>
            <a:srgbClr val="22362B"/>
          </a:solidFill>
          <a:ln w="12700">
            <a:solidFill>
              <a:srgbClr val="2236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555955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920240" y="555955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First-year direct sales + partnerships with 10–15 trekking agencies across Himalayan &amp; Western Ghats circuits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 •  The Smart Hiking Stick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Sentinel gets from workshop to trail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514600" cy="356616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26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build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576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and manufacture Sentinel through a contract electronics/hardware partner, with in-house firmware.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3657600"/>
            <a:ext cx="320040" cy="274320"/>
          </a:xfrm>
          <a:prstGeom prst="rightArrow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4136" y="2011680"/>
            <a:ext cx="2514600" cy="356616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228600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4845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48456" y="2926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direct + retail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48456" y="36576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D2C via website, plus placement in outdoor/trekking gear retail chains and expedition outfitters.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34456" y="3657600"/>
            <a:ext cx="320040" cy="274320"/>
          </a:xfrm>
          <a:prstGeom prst="rightArrow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1072" y="2011680"/>
            <a:ext cx="2514600" cy="356616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228600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6539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65392" y="2926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&amp; institutional supply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65392" y="36576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sales or rental to trekking agencies, forest departments, and mountain rescue teams.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51392" y="3657600"/>
            <a:ext cx="320040" cy="274320"/>
          </a:xfrm>
          <a:prstGeom prst="rightArrow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08008" y="2011680"/>
            <a:ext cx="2514600" cy="356616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328" y="228600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8232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482328" y="2926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&amp; update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482328" y="36576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Companion app for biometric history, SOS logs, and remote firmware updates over time.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 •  The Smart Hiking Stick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MODEL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Sentinel makes money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63093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3172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device sales — premium price point, D2C + retail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bulk sales / rental to trekking agencies &amp; forest depts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subscription — cloud biometric history &amp; SOS network access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Accessory &amp; replacement part sales (probes, batteries, straps)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FACTORS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0916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&amp; component sourcing (LoRa, GPS, biosensors)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Manufacturing, assembly &amp; safety certification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R&amp;D and patent filing costs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95160" y="1783080"/>
            <a:ext cx="4736592" cy="4434840"/>
          </a:xfrm>
          <a:prstGeom prst="roundRect">
            <a:avLst>
              <a:gd name="adj" fmla="val 1443"/>
            </a:avLst>
          </a:prstGeom>
          <a:solidFill>
            <a:srgbClr val="19221D"/>
          </a:solidFill>
          <a:ln w="12700">
            <a:solidFill>
              <a:srgbClr val="19221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6948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OPPORTUNITIES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331720"/>
            <a:ext cx="4160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6E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expansion across outdoor gear chains nationally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6E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&amp; forest-department bulk procurement contracts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6E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expansion — Nepal &amp; other major trekking hubs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6E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subscription revenue via the companion app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6E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Licensing the sensor/charging platform to other outdoor-gear makers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 •  The Smart Hiking Stick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alternative solves one problem — Sentinel solves all of them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5321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9632" y="1783080"/>
            <a:ext cx="55321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928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COMPETITORS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Standalone satellite SOS devices (e.g. Garmin inReach), bear spray/personal alarms, and fitness smartwatches.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51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does one job — SOS only, deterrent only, or biometrics only.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18928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 COMPETITORS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148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Ordinary trekking poles, printed maps/compasses, and guided tours where a human guide provides the safety net instead of gear.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1127455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94560"/>
                <a:gridCol w="2926080"/>
                <a:gridCol w="23134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Capability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6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Sentinel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Satellite SOS device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6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 trekking pole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61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Off-grid SOS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Animal deterrent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Biometrics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Self-charging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 — needs charging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N/A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AI fall detection + auto-SOS (no phone)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Limited — select Garmin watches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AI wildlife classification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86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rows reflect the planned SENTINEL AI layer. Competitor capabilities vary by model.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 •  The Smart Hiking Stick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6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COST &amp; PER-UNIT PRICING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 to build one Sentinel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722376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C447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PER-UNIT COMPONENT COST (BOM)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Structural — foldable shaft, grip, wrist strap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₹1,300 – ₹2,500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Power &amp; kinetic charging — piezo/induction, rectifier, 18650 + BMS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₹1,100 – ₹2,200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Connectivity — LoRa transceiver + GPS module + antenna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₹900 – ₹1,600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Sensors — HR/SpO2, PIR/thermal, barometric, TDS probe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₹1,130 – ₹2,350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Defense systems — acoustic siren + electric pulse module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₹1,000 – ₹2,000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Display &amp; output — OLED screen, torch/LED, microcontroller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₹800 – ₹1,500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AI hardware (added) — IMU + TinyML-capable MCU upgrade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₹450 – ₹1,100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Assembly, wiring, waterproof casing &amp; PCB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₹1,200 – ₹2,400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 subtotal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₹7,880 – ₹15,650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assembly &amp; QC overhead (~15%)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241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₹1,180 – ₹2,350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909560" y="1783080"/>
            <a:ext cx="3822192" cy="4023360"/>
          </a:xfrm>
          <a:prstGeom prst="roundRect">
            <a:avLst>
              <a:gd name="adj" fmla="val 1675"/>
            </a:avLst>
          </a:prstGeom>
          <a:solidFill>
            <a:srgbClr val="19221D"/>
          </a:solidFill>
          <a:ln w="12700">
            <a:solidFill>
              <a:srgbClr val="19221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8388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PER-UNIT MANUFACTURING COST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2194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₹9,060 – ₹18,000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device, at low-volume production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83880" y="3154680"/>
            <a:ext cx="3291840" cy="0"/>
          </a:xfrm>
          <a:prstGeom prst="line">
            <a:avLst/>
          </a:prstGeom>
          <a:noFill/>
          <a:ln w="9525">
            <a:solidFill>
              <a:srgbClr val="2236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83880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RETAIL PRICE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3566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₹13,140 – ₹26,100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4114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~2–3x manufacturing cost — typical for premium smart outdoor gear, covering R&amp;D amortization, distribution and warranty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4754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FA0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Figures are engineering estimates for planning — confirm with supplier quotes before committing to production.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5230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model uses PIR. The Sentinel Pro variant (thermal-array animal classification) adds several thousand ₹ per unit.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5943600"/>
            <a:ext cx="11274552" cy="384048"/>
          </a:xfrm>
          <a:prstGeom prst="roundRect">
            <a:avLst>
              <a:gd name="adj" fmla="val 11905"/>
            </a:avLst>
          </a:prstGeom>
          <a:solidFill>
            <a:srgbClr val="FFE6DA"/>
          </a:solidFill>
          <a:ln w="9525">
            <a:solidFill>
              <a:srgbClr val="F6C6B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9436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4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 (NOT PER-UNIT): </a:t>
            </a:r>
            <a:pPr indent="0" marL="0">
              <a:buNone/>
            </a:pPr>
            <a:r>
              <a:rPr lang="en-US" sz="1000" dirty="0">
                <a:solidFill>
                  <a:srgbClr val="1A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R&amp;D ₹3–6L  •  Tooling &amp; molds ₹1–2.5L  •  Safety certification ₹1–3L  •  Patent filing ₹50K–1.5L  •  AI data collection &amp; model training: to be estimated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108960"/>
            <a:ext cx="4389120" cy="4389120"/>
          </a:xfrm>
          <a:prstGeom prst="ellipse">
            <a:avLst/>
          </a:prstGeom>
          <a:solidFill>
            <a:srgbClr val="19221D"/>
          </a:solidFill>
          <a:ln w="12700">
            <a:solidFill>
              <a:srgbClr val="1922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749040"/>
            <a:ext cx="1463040" cy="14630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76688" y="4114800"/>
            <a:ext cx="512064" cy="731520"/>
          </a:xfrm>
          <a:prstGeom prst="line">
            <a:avLst/>
          </a:prstGeom>
          <a:noFill/>
          <a:ln w="91440">
            <a:solidFill>
              <a:srgbClr val="0D16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0" y="4027018"/>
            <a:ext cx="146304" cy="146304"/>
          </a:xfrm>
          <a:prstGeom prst="ellipse">
            <a:avLst/>
          </a:prstGeom>
          <a:solidFill>
            <a:srgbClr val="0D1611"/>
          </a:solidFill>
          <a:ln w="12700">
            <a:solidFill>
              <a:srgbClr val="0D16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trail. Every step. Protected.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— the smart hiking stick built for the moment a hiker is completely alone.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754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212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— Sentinel Smart Hiking Stick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nel">
  <a:themeElements>
    <a:clrScheme name="Sentinel">
      <a:dk1>
        <a:srgbClr val="1A241F"/>
      </a:dk1>
      <a:lt1>
        <a:srgbClr val="FFFFFF"/>
      </a:lt1>
      <a:dk2>
        <a:srgbClr val="0D1611"/>
      </a:dk2>
      <a:lt2>
        <a:srgbClr val="F7F7F5"/>
      </a:lt2>
      <a:accent1>
        <a:srgbClr val="FF6B35"/>
      </a:accent1>
      <a:accent2>
        <a:srgbClr val="C4471C"/>
      </a:accent2>
      <a:accent3>
        <a:srgbClr val="22362B"/>
      </a:accent3>
      <a:accent4>
        <a:srgbClr val="19221D"/>
      </a:accent4>
      <a:accent5>
        <a:srgbClr val="5B6660"/>
      </a:accent5>
      <a:accent6>
        <a:srgbClr val="FDE3D8"/>
      </a:accent6>
      <a:hlink>
        <a:srgbClr val="FF6B35"/>
      </a:hlink>
      <a:folHlink>
        <a:srgbClr val="C4471C"/>
      </a:folHlink>
    </a:clrScheme>
    <a:fontScheme name="Sentine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- The Smart Hiking Stick</dc:title>
  <dc:subject>PptxGenJS Presentation</dc:subject>
  <dc:creator>PptxGenJS</dc:creator>
  <cp:lastModifiedBy>PptxGenJS</cp:lastModifiedBy>
  <cp:revision>1</cp:revision>
  <dcterms:created xsi:type="dcterms:W3CDTF">2026-10-20T15:15:27Z</dcterms:created>
  <dcterms:modified xsi:type="dcterms:W3CDTF">2026-10-20T15:15:27Z</dcterms:modified>
</cp:coreProperties>
</file>